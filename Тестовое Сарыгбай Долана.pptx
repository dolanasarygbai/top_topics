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2" r:id="rId6"/>
    <p:sldId id="261" r:id="rId7"/>
    <p:sldId id="266" r:id="rId8"/>
    <p:sldId id="267" r:id="rId9"/>
    <p:sldId id="265" r:id="rId10"/>
    <p:sldId id="268" r:id="rId11"/>
    <p:sldId id="271" r:id="rId12"/>
    <p:sldId id="269" r:id="rId13"/>
    <p:sldId id="272" r:id="rId14"/>
    <p:sldId id="277" r:id="rId15"/>
    <p:sldId id="278" r:id="rId16"/>
    <p:sldId id="279" r:id="rId17"/>
    <p:sldId id="275" r:id="rId18"/>
    <p:sldId id="281" r:id="rId19"/>
    <p:sldId id="282" r:id="rId20"/>
    <p:sldId id="276" r:id="rId21"/>
    <p:sldId id="273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426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51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94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44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79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812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20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2038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3366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046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575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E8168-6407-4CB7-A992-1AF7E6985F39}" type="datetimeFigureOut">
              <a:rPr lang="ru-RU" smtClean="0"/>
              <a:t>01.02.2026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9D3BF-6728-4E6D-B421-54D8F4AA9C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18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Выявление топ тем из текстовых данных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Тестовое Сарыгбай </a:t>
            </a:r>
            <a:r>
              <a:rPr lang="ru-RU" dirty="0" err="1" smtClean="0"/>
              <a:t>Доланы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2906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Способы решения задачи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Excel, </a:t>
            </a:r>
            <a:r>
              <a:rPr lang="ru-RU" dirty="0" smtClean="0"/>
              <a:t>сводные таблицы </a:t>
            </a:r>
          </a:p>
          <a:p>
            <a:r>
              <a:rPr lang="ru-RU" dirty="0" smtClean="0"/>
              <a:t>Классические алгоритмы машинного обучения (</a:t>
            </a:r>
            <a:r>
              <a:rPr lang="en-US" dirty="0" smtClean="0"/>
              <a:t>DBSCAN, </a:t>
            </a:r>
            <a:r>
              <a:rPr lang="en-US" dirty="0" err="1" smtClean="0"/>
              <a:t>Kmeans</a:t>
            </a:r>
            <a:r>
              <a:rPr lang="ru-RU" dirty="0" smtClean="0"/>
              <a:t>)</a:t>
            </a:r>
            <a:endParaRPr lang="en-US" dirty="0" smtClean="0"/>
          </a:p>
          <a:p>
            <a:r>
              <a:rPr lang="en-US" dirty="0" smtClean="0"/>
              <a:t>LLM: </a:t>
            </a:r>
          </a:p>
          <a:p>
            <a:pPr lvl="1"/>
            <a:r>
              <a:rPr lang="en-US" dirty="0" smtClean="0"/>
              <a:t>A) </a:t>
            </a:r>
            <a:r>
              <a:rPr lang="ru-RU" dirty="0" smtClean="0"/>
              <a:t>локально с </a:t>
            </a:r>
            <a:r>
              <a:rPr lang="en-US" dirty="0" err="1" smtClean="0"/>
              <a:t>Ollama</a:t>
            </a:r>
            <a:r>
              <a:rPr lang="en-US" dirty="0" smtClean="0"/>
              <a:t>, </a:t>
            </a:r>
          </a:p>
          <a:p>
            <a:pPr lvl="1"/>
            <a:r>
              <a:rPr lang="ru-RU" dirty="0" smtClean="0"/>
              <a:t>Б) </a:t>
            </a:r>
            <a:r>
              <a:rPr lang="en-US" dirty="0" smtClean="0"/>
              <a:t>API</a:t>
            </a:r>
            <a:r>
              <a:rPr lang="ru-RU" dirty="0"/>
              <a:t> </a:t>
            </a:r>
            <a:r>
              <a:rPr lang="ru-RU" dirty="0" smtClean="0"/>
              <a:t>– </a:t>
            </a:r>
            <a:r>
              <a:rPr lang="en-US" dirty="0" err="1" smtClean="0"/>
              <a:t>Openrouter</a:t>
            </a:r>
            <a:r>
              <a:rPr lang="en-US" dirty="0" smtClean="0"/>
              <a:t>, </a:t>
            </a:r>
            <a:r>
              <a:rPr lang="en-US" dirty="0" err="1" smtClean="0"/>
              <a:t>GigaChat</a:t>
            </a:r>
            <a:endParaRPr lang="en-US" dirty="0" smtClean="0"/>
          </a:p>
          <a:p>
            <a:pPr lvl="1"/>
            <a:r>
              <a:rPr lang="ru-RU" dirty="0" smtClean="0"/>
              <a:t>В) Веб-версии языковых моделей, таких как </a:t>
            </a:r>
            <a:r>
              <a:rPr lang="en-US" dirty="0" err="1" smtClean="0"/>
              <a:t>DeepSeek</a:t>
            </a:r>
            <a:r>
              <a:rPr lang="en-US" dirty="0" smtClean="0"/>
              <a:t>, </a:t>
            </a:r>
            <a:r>
              <a:rPr lang="en-US" dirty="0" err="1" smtClean="0"/>
              <a:t>Qwen</a:t>
            </a:r>
            <a:endParaRPr lang="ru-RU" dirty="0" smtClean="0"/>
          </a:p>
          <a:p>
            <a:pPr lvl="1"/>
            <a:endParaRPr lang="ru-RU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410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3200" dirty="0" smtClean="0">
                <a:solidFill>
                  <a:srgbClr val="00B050"/>
                </a:solidFill>
              </a:rPr>
              <a:t>Плюсы</a:t>
            </a:r>
          </a:p>
          <a:p>
            <a:r>
              <a:rPr lang="ru-RU" sz="2400" dirty="0" smtClean="0"/>
              <a:t>Позволяет без специальных знаний быстро взглянуть на основные темы.</a:t>
            </a:r>
          </a:p>
          <a:p>
            <a:r>
              <a:rPr lang="ru-RU" sz="2400" dirty="0" smtClean="0"/>
              <a:t>Сводные таблицы выводят количество совпадений, по которым можно увидеть топ популярных тем. </a:t>
            </a:r>
          </a:p>
          <a:p>
            <a:endParaRPr lang="ru-RU" dirty="0" smtClean="0"/>
          </a:p>
          <a:p>
            <a:r>
              <a:rPr lang="ru-RU" sz="3200" dirty="0" smtClean="0">
                <a:solidFill>
                  <a:srgbClr val="FF0000"/>
                </a:solidFill>
              </a:rPr>
              <a:t>Недостатки </a:t>
            </a:r>
          </a:p>
          <a:p>
            <a:r>
              <a:rPr lang="ru-RU" sz="2400" dirty="0" smtClean="0"/>
              <a:t>Смотрит на совпадения без учета смысла (семантики), следовательно есть неточность в подсчете тем.</a:t>
            </a:r>
          </a:p>
        </p:txBody>
      </p:sp>
    </p:spTree>
    <p:extLst>
      <p:ext uri="{BB962C8B-B14F-4D97-AF65-F5344CB8AC3E}">
        <p14:creationId xmlns:p14="http://schemas.microsoft.com/office/powerpoint/2010/main" val="4086750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42862"/>
            <a:ext cx="13011150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17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97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101455"/>
            <a:ext cx="10515600" cy="1325563"/>
          </a:xfrm>
        </p:spPr>
        <p:txBody>
          <a:bodyPr/>
          <a:lstStyle/>
          <a:p>
            <a:r>
              <a:rPr lang="ru-RU" dirty="0" smtClean="0"/>
              <a:t>Алгоритмы машинного обучения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27018"/>
            <a:ext cx="10896600" cy="4749945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Поиск тем это классическая задача кластеризации. Я рассмотрела </a:t>
            </a:r>
            <a:r>
              <a:rPr lang="en-US" dirty="0" smtClean="0"/>
              <a:t>DBSCAN</a:t>
            </a:r>
            <a:r>
              <a:rPr lang="ru-RU" dirty="0" smtClean="0"/>
              <a:t> и </a:t>
            </a:r>
            <a:r>
              <a:rPr lang="en-US" dirty="0" err="1" smtClean="0"/>
              <a:t>Kmeans</a:t>
            </a:r>
            <a:r>
              <a:rPr lang="en-US" dirty="0" smtClean="0"/>
              <a:t>.  </a:t>
            </a:r>
            <a:endParaRPr lang="ru-RU" dirty="0" smtClean="0"/>
          </a:p>
          <a:p>
            <a:endParaRPr lang="en-US" dirty="0" smtClean="0"/>
          </a:p>
          <a:p>
            <a:r>
              <a:rPr lang="ru-RU" sz="3200" dirty="0" smtClean="0">
                <a:solidFill>
                  <a:srgbClr val="00B050"/>
                </a:solidFill>
              </a:rPr>
              <a:t>Плюсы </a:t>
            </a:r>
          </a:p>
          <a:p>
            <a:r>
              <a:rPr lang="ru-RU" sz="2400" dirty="0" smtClean="0"/>
              <a:t>Чуть выше точность, чем у </a:t>
            </a:r>
            <a:r>
              <a:rPr lang="en-US" sz="2400" dirty="0" smtClean="0"/>
              <a:t>Excel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Как и в случае с </a:t>
            </a:r>
            <a:r>
              <a:rPr lang="en-US" sz="2400" dirty="0" smtClean="0"/>
              <a:t>Excel</a:t>
            </a:r>
            <a:r>
              <a:rPr lang="ru-RU" sz="2400" dirty="0"/>
              <a:t> </a:t>
            </a:r>
            <a:r>
              <a:rPr lang="ru-RU" sz="2400" dirty="0" smtClean="0"/>
              <a:t>позволяет быстро взглянуть на топ тем. </a:t>
            </a:r>
            <a:endParaRPr lang="en-US" sz="2400" dirty="0" smtClean="0"/>
          </a:p>
          <a:p>
            <a:r>
              <a:rPr lang="ru-RU" sz="2400" dirty="0" smtClean="0"/>
              <a:t>Не боится больших объемов, подсчетов </a:t>
            </a:r>
            <a:r>
              <a:rPr lang="ru-RU" sz="2400" dirty="0" err="1" smtClean="0"/>
              <a:t>токенов</a:t>
            </a:r>
            <a:r>
              <a:rPr lang="ru-RU" sz="2400" dirty="0"/>
              <a:t> </a:t>
            </a:r>
            <a:r>
              <a:rPr lang="ru-RU" sz="2400" dirty="0" smtClean="0"/>
              <a:t>по сравнению с </a:t>
            </a:r>
            <a:r>
              <a:rPr lang="en-US" sz="2400" dirty="0" smtClean="0"/>
              <a:t>LLM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r>
              <a:rPr lang="ru-RU" sz="2400" dirty="0" smtClean="0"/>
              <a:t>Не требует вычислительных мощностей.</a:t>
            </a:r>
          </a:p>
          <a:p>
            <a:r>
              <a:rPr lang="ru-RU" sz="2400" dirty="0" smtClean="0"/>
              <a:t>Высокая скорость по сравнению с </a:t>
            </a:r>
            <a:r>
              <a:rPr lang="en-US" sz="2400" dirty="0" smtClean="0"/>
              <a:t>LLM</a:t>
            </a:r>
            <a:r>
              <a:rPr lang="ru-RU" sz="2400" dirty="0" smtClean="0"/>
              <a:t>. </a:t>
            </a:r>
          </a:p>
          <a:p>
            <a:endParaRPr lang="en-US" dirty="0" smtClean="0"/>
          </a:p>
          <a:p>
            <a:r>
              <a:rPr lang="ru-RU" sz="3200" dirty="0" smtClean="0">
                <a:solidFill>
                  <a:srgbClr val="FF0000"/>
                </a:solidFill>
              </a:rPr>
              <a:t>Минус</a:t>
            </a:r>
            <a:endParaRPr lang="en-US" sz="3200" dirty="0">
              <a:solidFill>
                <a:srgbClr val="FF0000"/>
              </a:solidFill>
            </a:endParaRPr>
          </a:p>
          <a:p>
            <a:r>
              <a:rPr lang="ru-RU" sz="2400" dirty="0" smtClean="0"/>
              <a:t>Осмысленного отчета не получить как от </a:t>
            </a:r>
            <a:r>
              <a:rPr lang="en-US" sz="2400" dirty="0" smtClean="0"/>
              <a:t>LLM</a:t>
            </a:r>
            <a:r>
              <a:rPr lang="ru-RU" sz="2400" dirty="0" smtClean="0"/>
              <a:t>. Уступает по качеству по сравнению с </a:t>
            </a:r>
            <a:r>
              <a:rPr lang="en-US" sz="2400" dirty="0" smtClean="0"/>
              <a:t>LLM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0220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8928" y="0"/>
            <a:ext cx="5451764" cy="452293"/>
          </a:xfrm>
        </p:spPr>
        <p:txBody>
          <a:bodyPr>
            <a:normAutofit/>
          </a:bodyPr>
          <a:lstStyle/>
          <a:p>
            <a:r>
              <a:rPr lang="en-US" sz="2400" dirty="0" err="1" smtClean="0"/>
              <a:t>KMeans</a:t>
            </a:r>
            <a:endParaRPr lang="ru-RU" sz="2400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14" y="390019"/>
            <a:ext cx="12034686" cy="6467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96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147637"/>
            <a:ext cx="13011150" cy="656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92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Kmeans</a:t>
            </a:r>
            <a:r>
              <a:rPr lang="en-US" dirty="0" smtClean="0"/>
              <a:t> (</a:t>
            </a:r>
            <a:r>
              <a:rPr lang="ru-RU" dirty="0" smtClean="0"/>
              <a:t>еще один вариант</a:t>
            </a:r>
            <a:r>
              <a:rPr lang="en-US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 smtClean="0"/>
              <a:t>Тема №1: не, на, да, оператора, день, можно, вам</a:t>
            </a:r>
          </a:p>
          <a:p>
            <a:r>
              <a:rPr lang="ru-RU" dirty="0" smtClean="0"/>
              <a:t>Тема №2: центра, телефон, клиентской, поддержки, здесь, найти, можно</a:t>
            </a:r>
          </a:p>
          <a:p>
            <a:r>
              <a:rPr lang="ru-RU" dirty="0" smtClean="0"/>
              <a:t>Тема №3: ждём, снова, обращение, спасибо, за, вас, являетесь</a:t>
            </a:r>
          </a:p>
          <a:p>
            <a:r>
              <a:rPr lang="ru-RU" dirty="0" smtClean="0"/>
              <a:t>Тема №4: вопрос, центр, клиентской, поддержки, позвоните, или, пожалуйста</a:t>
            </a:r>
          </a:p>
          <a:p>
            <a:r>
              <a:rPr lang="ru-RU" dirty="0" smtClean="0"/>
              <a:t>Тема №5: оператор, присоединится, разговору, передаю, ответят, скоро, информацию</a:t>
            </a:r>
          </a:p>
          <a:p>
            <a:r>
              <a:rPr lang="ru-RU" dirty="0" smtClean="0"/>
              <a:t>Тема №6: ли, ещё, вопросы, вас, остались, есть, </a:t>
            </a:r>
            <a:r>
              <a:rPr lang="ru-RU" dirty="0" err="1" smtClean="0"/>
              <a:t>нибудь</a:t>
            </a:r>
            <a:endParaRPr lang="ru-RU" dirty="0" smtClean="0"/>
          </a:p>
          <a:p>
            <a:r>
              <a:rPr lang="ru-RU" dirty="0" smtClean="0"/>
              <a:t>Тема №7: интересует, информация, вас, какая, уточните, какой, карте</a:t>
            </a:r>
          </a:p>
          <a:p>
            <a:r>
              <a:rPr lang="ru-RU" dirty="0" smtClean="0"/>
              <a:t>Тема №8: карту, закрыть, вы, хотите, выберите, кредитную, хотели</a:t>
            </a:r>
          </a:p>
          <a:p>
            <a:r>
              <a:rPr lang="ru-RU" dirty="0" smtClean="0"/>
              <a:t>Тема №9: по, карте, </a:t>
            </a:r>
            <a:r>
              <a:rPr lang="ru-RU" dirty="0" err="1" smtClean="0"/>
              <a:t>кешбэк</a:t>
            </a:r>
            <a:r>
              <a:rPr lang="ru-RU" dirty="0" smtClean="0"/>
              <a:t>, на, интернет, банке, какому</a:t>
            </a:r>
          </a:p>
          <a:p>
            <a:r>
              <a:rPr lang="ru-RU" dirty="0" smtClean="0"/>
              <a:t>Тема №10: карты, нет, счета, для, номер, главная, раздел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307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2890" y="198870"/>
            <a:ext cx="1794164" cy="618548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>DBSCAN</a:t>
            </a:r>
            <a:endParaRPr lang="ru-RU" sz="2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44236" y="955964"/>
            <a:ext cx="10952018" cy="5666508"/>
          </a:xfrm>
        </p:spPr>
        <p:txBody>
          <a:bodyPr>
            <a:noAutofit/>
          </a:bodyPr>
          <a:lstStyle/>
          <a:p>
            <a:r>
              <a:rPr lang="ru-RU" sz="1800" dirty="0" smtClean="0"/>
              <a:t>Найдено тем (кластеров): 124</a:t>
            </a:r>
          </a:p>
          <a:p>
            <a:r>
              <a:rPr lang="ru-RU" sz="1800" dirty="0" smtClean="0"/>
              <a:t>Сообщений вне тем (шум): 2646</a:t>
            </a:r>
          </a:p>
          <a:p>
            <a:endParaRPr lang="ru-RU" sz="1800" dirty="0" smtClean="0"/>
          </a:p>
          <a:p>
            <a:r>
              <a:rPr lang="ru-RU" sz="1800" dirty="0" smtClean="0"/>
              <a:t>Тема №0 (4098 сообщений):</a:t>
            </a:r>
          </a:p>
          <a:p>
            <a:r>
              <a:rPr lang="ru-RU" sz="1800" dirty="0" smtClean="0"/>
              <a:t>Ключевые слова: оператор, спасибо, обращение, снова, ждём, за, вас, могу, вам, чем</a:t>
            </a:r>
          </a:p>
          <a:p>
            <a:endParaRPr lang="ru-RU" sz="1800" dirty="0" smtClean="0"/>
          </a:p>
          <a:p>
            <a:r>
              <a:rPr lang="ru-RU" sz="1800" dirty="0" smtClean="0"/>
              <a:t>Тема №2 (435 сообщений):</a:t>
            </a:r>
          </a:p>
          <a:p>
            <a:r>
              <a:rPr lang="ru-RU" sz="1800" dirty="0" smtClean="0"/>
              <a:t>Ключевые слова: вопросы, ли, ещё, вас, остались, есть, дополнительные, банка, имеются, во</a:t>
            </a:r>
          </a:p>
          <a:p>
            <a:endParaRPr lang="ru-RU" sz="1800" dirty="0" smtClean="0"/>
          </a:p>
          <a:p>
            <a:r>
              <a:rPr lang="ru-RU" sz="1800" dirty="0" smtClean="0"/>
              <a:t>Тема №14 (267 сообщений):</a:t>
            </a:r>
          </a:p>
          <a:p>
            <a:r>
              <a:rPr lang="ru-RU" sz="1800" dirty="0" smtClean="0"/>
              <a:t>Ключевые слова: позвоните, центр, клиентской, поддержки, вопрос, задайте, пожалуйста, или, помочь, постараюсь</a:t>
            </a:r>
          </a:p>
          <a:p>
            <a:endParaRPr lang="ru-RU" sz="1800" dirty="0" smtClean="0"/>
          </a:p>
          <a:p>
            <a:r>
              <a:rPr lang="ru-RU" sz="1800" dirty="0" smtClean="0"/>
              <a:t>Тема №8 (198 сообщений):</a:t>
            </a:r>
          </a:p>
          <a:p>
            <a:r>
              <a:rPr lang="ru-RU" sz="1800" dirty="0" smtClean="0"/>
              <a:t>Ключевые слова: интересует, информация, какая, вас, уточните, какой, карте, по, рассрочке, подробнее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5272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0218"/>
            <a:ext cx="10515600" cy="5982999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/>
              <a:t>Тема №72 (168 сообщений):</a:t>
            </a:r>
          </a:p>
          <a:p>
            <a:r>
              <a:rPr lang="ru-RU" dirty="0" smtClean="0"/>
              <a:t>Ключевые слова: фразой, короткой, центр, клиентской, поддержки, вопрос, напишите, или, какой, позвоните</a:t>
            </a:r>
          </a:p>
          <a:p>
            <a:endParaRPr lang="ru-RU" dirty="0" smtClean="0"/>
          </a:p>
          <a:p>
            <a:r>
              <a:rPr lang="ru-RU" dirty="0" smtClean="0"/>
              <a:t>Тема №38 (109 сообщений):</a:t>
            </a:r>
          </a:p>
          <a:p>
            <a:r>
              <a:rPr lang="ru-RU" dirty="0" smtClean="0"/>
              <a:t>Ключевые слова: да, верно, почту, электронную, на, соблюдения, выписке, можно, сумму, все</a:t>
            </a:r>
          </a:p>
          <a:p>
            <a:endParaRPr lang="ru-RU" dirty="0" smtClean="0"/>
          </a:p>
          <a:p>
            <a:r>
              <a:rPr lang="ru-RU" dirty="0" smtClean="0"/>
              <a:t>Тема №9 (103 сообщений):</a:t>
            </a:r>
          </a:p>
          <a:p>
            <a:r>
              <a:rPr lang="ru-RU" dirty="0" smtClean="0"/>
              <a:t>Ключевые слова: </a:t>
            </a:r>
            <a:r>
              <a:rPr lang="ru-RU" dirty="0" err="1" smtClean="0"/>
              <a:t>ое</a:t>
            </a:r>
            <a:r>
              <a:rPr lang="ru-RU" dirty="0" smtClean="0"/>
              <a:t>, число, рублях, по, каждого, составляет, дебетовой, начисляется, месяца, покупки</a:t>
            </a:r>
          </a:p>
          <a:p>
            <a:endParaRPr lang="ru-RU" dirty="0" smtClean="0"/>
          </a:p>
          <a:p>
            <a:r>
              <a:rPr lang="ru-RU" dirty="0" smtClean="0"/>
              <a:t>Тема №10 (93 сообщений):</a:t>
            </a:r>
          </a:p>
          <a:p>
            <a:r>
              <a:rPr lang="ru-RU" dirty="0" smtClean="0"/>
              <a:t>Ключевые слова: фразой, короткой, центр, клиентской, поддержки, вопрос, напишите, или, какой, позвоните</a:t>
            </a:r>
          </a:p>
          <a:p>
            <a:endParaRPr lang="ru-RU" dirty="0" smtClean="0"/>
          </a:p>
          <a:p>
            <a:r>
              <a:rPr lang="ru-RU" dirty="0" smtClean="0"/>
              <a:t>Тема №38 (109 сообщений):</a:t>
            </a:r>
          </a:p>
          <a:p>
            <a:r>
              <a:rPr lang="ru-RU" dirty="0" smtClean="0"/>
              <a:t>Ключевые слова: да, верно, почту, электронную, на, соблюдения, выписке, можно, сумму, все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2136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99654" y="471055"/>
            <a:ext cx="10965874" cy="5985164"/>
          </a:xfrm>
        </p:spPr>
        <p:txBody>
          <a:bodyPr>
            <a:noAutofit/>
          </a:bodyPr>
          <a:lstStyle/>
          <a:p>
            <a:r>
              <a:rPr lang="ru-RU" sz="1900" dirty="0" smtClean="0"/>
              <a:t>Тема №9 (103 сообщений):</a:t>
            </a:r>
          </a:p>
          <a:p>
            <a:r>
              <a:rPr lang="ru-RU" sz="1900" dirty="0" smtClean="0"/>
              <a:t>Ключевые слова: </a:t>
            </a:r>
            <a:r>
              <a:rPr lang="ru-RU" sz="1900" dirty="0" err="1" smtClean="0"/>
              <a:t>ое</a:t>
            </a:r>
            <a:r>
              <a:rPr lang="ru-RU" sz="1900" dirty="0" smtClean="0"/>
              <a:t>, число, рублях, по, каждого, составляет, дебетовой, начисляется, месяца, покупки</a:t>
            </a:r>
          </a:p>
          <a:p>
            <a:endParaRPr lang="ru-RU" sz="1900" dirty="0" smtClean="0"/>
          </a:p>
          <a:p>
            <a:r>
              <a:rPr lang="ru-RU" sz="1900" dirty="0" smtClean="0"/>
              <a:t>Тема №10 (93 сообщений):</a:t>
            </a:r>
          </a:p>
          <a:p>
            <a:r>
              <a:rPr lang="ru-RU" sz="1900" dirty="0" smtClean="0"/>
              <a:t>Ключевые слова: </a:t>
            </a:r>
            <a:r>
              <a:rPr lang="ru-RU" sz="1900" dirty="0" err="1" smtClean="0"/>
              <a:t>ое</a:t>
            </a:r>
            <a:r>
              <a:rPr lang="ru-RU" sz="1900" dirty="0" smtClean="0"/>
              <a:t>, число, рублях, по, каждого, составляет, дебетовой, начисляется, месяца, покупки</a:t>
            </a:r>
          </a:p>
          <a:p>
            <a:endParaRPr lang="ru-RU" sz="1900" dirty="0" smtClean="0"/>
          </a:p>
          <a:p>
            <a:r>
              <a:rPr lang="ru-RU" sz="1900" dirty="0" smtClean="0"/>
              <a:t>Тема №10 (93 сообщений):</a:t>
            </a:r>
          </a:p>
          <a:p>
            <a:r>
              <a:rPr lang="ru-RU" sz="1900" dirty="0" smtClean="0"/>
              <a:t>Ключевые слова: устанавливаются, исключения, банком, их, нашем, категории, посмотреть, сайте, месяца, можно</a:t>
            </a:r>
          </a:p>
          <a:p>
            <a:endParaRPr lang="ru-RU" sz="1900" dirty="0" smtClean="0"/>
          </a:p>
          <a:p>
            <a:r>
              <a:rPr lang="ru-RU" sz="1900" dirty="0" smtClean="0"/>
              <a:t>Тема №3 (80 сообщений):</a:t>
            </a:r>
          </a:p>
          <a:p>
            <a:r>
              <a:rPr lang="ru-RU" sz="1900" dirty="0" smtClean="0"/>
              <a:t>Ключевые слова: приветствует, бот, чат, </a:t>
            </a:r>
            <a:r>
              <a:rPr lang="ru-RU" sz="1900" dirty="0" err="1" smtClean="0"/>
              <a:t>европа</a:t>
            </a:r>
            <a:r>
              <a:rPr lang="ru-RU" sz="1900" dirty="0" smtClean="0"/>
              <a:t>, здравствуйте, кредит, банка, вас, является, являетесь</a:t>
            </a:r>
          </a:p>
          <a:p>
            <a:endParaRPr lang="ru-RU" sz="1900" dirty="0" smtClean="0"/>
          </a:p>
          <a:p>
            <a:r>
              <a:rPr lang="ru-RU" sz="1900" dirty="0" smtClean="0"/>
              <a:t>Тема №74 (70 сообщений):</a:t>
            </a:r>
          </a:p>
          <a:p>
            <a:r>
              <a:rPr lang="ru-RU" sz="1900" dirty="0" smtClean="0"/>
              <a:t>Ключевые слова: передаю, присоединится, разговору, ответят, скоро, информацию, уже, оператор, вам, авто</a:t>
            </a:r>
            <a:endParaRPr lang="ru-RU" sz="1900" dirty="0"/>
          </a:p>
        </p:txBody>
      </p:sp>
    </p:spTree>
    <p:extLst>
      <p:ext uri="{BB962C8B-B14F-4D97-AF65-F5344CB8AC3E}">
        <p14:creationId xmlns:p14="http://schemas.microsoft.com/office/powerpoint/2010/main" val="1337464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LLM</a:t>
            </a:r>
            <a:r>
              <a:rPr lang="ru-RU" sz="3600" dirty="0" smtClean="0"/>
              <a:t>, </a:t>
            </a:r>
            <a:r>
              <a:rPr lang="en-US" sz="3600" dirty="0" smtClean="0"/>
              <a:t>API.</a:t>
            </a:r>
            <a:br>
              <a:rPr lang="en-US" sz="3600" dirty="0" smtClean="0"/>
            </a:br>
            <a:r>
              <a:rPr lang="en-US" sz="2800" dirty="0" err="1" smtClean="0"/>
              <a:t>GigaChat</a:t>
            </a:r>
            <a:r>
              <a:rPr lang="ru-RU" sz="2800" dirty="0" smtClean="0"/>
              <a:t>, </a:t>
            </a:r>
            <a:r>
              <a:rPr lang="en-US" sz="2800" dirty="0" err="1" smtClean="0"/>
              <a:t>Openrouter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3200" dirty="0" smtClean="0">
                <a:solidFill>
                  <a:srgbClr val="00B050"/>
                </a:solidFill>
              </a:rPr>
              <a:t>Плюсы </a:t>
            </a:r>
          </a:p>
          <a:p>
            <a:r>
              <a:rPr lang="ru-RU" sz="2400" dirty="0" smtClean="0"/>
              <a:t>Семантически осмысленный приятный отчёт.</a:t>
            </a:r>
          </a:p>
          <a:p>
            <a:r>
              <a:rPr lang="en-US" sz="2400" dirty="0" err="1" smtClean="0"/>
              <a:t>GigaChat</a:t>
            </a:r>
            <a:r>
              <a:rPr lang="ru-RU" sz="2400" dirty="0" smtClean="0"/>
              <a:t> с очень ясной документацией,</a:t>
            </a:r>
            <a:r>
              <a:rPr lang="en-US" sz="2400" dirty="0" smtClean="0"/>
              <a:t> </a:t>
            </a:r>
            <a:r>
              <a:rPr lang="ru-RU" sz="2400" dirty="0" smtClean="0"/>
              <a:t>легко и бесплатно получаешь ключ </a:t>
            </a:r>
            <a:r>
              <a:rPr lang="en-US" sz="2400" dirty="0" smtClean="0"/>
              <a:t>API.</a:t>
            </a:r>
            <a:endParaRPr lang="ru-RU" sz="2400" dirty="0" smtClean="0"/>
          </a:p>
          <a:p>
            <a:endParaRPr lang="ru-RU" sz="2400" dirty="0" smtClean="0"/>
          </a:p>
          <a:p>
            <a:r>
              <a:rPr lang="ru-RU" sz="3200" dirty="0" smtClean="0">
                <a:solidFill>
                  <a:srgbClr val="FF0000"/>
                </a:solidFill>
              </a:rPr>
              <a:t>Минусы </a:t>
            </a:r>
          </a:p>
          <a:p>
            <a:r>
              <a:rPr lang="ru-RU" sz="2400" dirty="0" smtClean="0"/>
              <a:t>Приличные варианты платные</a:t>
            </a:r>
            <a:r>
              <a:rPr lang="en-US" sz="2400" dirty="0"/>
              <a:t>.</a:t>
            </a:r>
            <a:endParaRPr lang="en-US" sz="2400" dirty="0" smtClean="0"/>
          </a:p>
          <a:p>
            <a:r>
              <a:rPr lang="ru-RU" sz="2400" dirty="0" smtClean="0"/>
              <a:t>Требует навыков работы с вебом. </a:t>
            </a:r>
          </a:p>
          <a:p>
            <a:r>
              <a:rPr lang="ru-RU" sz="2400" dirty="0" smtClean="0"/>
              <a:t>Бесплатные модели на </a:t>
            </a:r>
            <a:r>
              <a:rPr lang="en-US" sz="2400" dirty="0" err="1" smtClean="0"/>
              <a:t>Openrouter</a:t>
            </a:r>
            <a:r>
              <a:rPr lang="en-US" sz="2400" dirty="0" smtClean="0"/>
              <a:t> </a:t>
            </a:r>
            <a:r>
              <a:rPr lang="ru-RU" sz="2400" dirty="0" smtClean="0"/>
              <a:t>падают, даже когда ставила таймеры. </a:t>
            </a:r>
          </a:p>
          <a:p>
            <a:r>
              <a:rPr lang="ru-RU" sz="2400" dirty="0" smtClean="0"/>
              <a:t>На </a:t>
            </a:r>
            <a:r>
              <a:rPr lang="en-US" sz="2400" dirty="0" err="1" smtClean="0"/>
              <a:t>GigaChat</a:t>
            </a:r>
            <a:r>
              <a:rPr lang="en-US" sz="2400" dirty="0" smtClean="0"/>
              <a:t> </a:t>
            </a:r>
            <a:r>
              <a:rPr lang="ru-RU" sz="2400" dirty="0" smtClean="0"/>
              <a:t>ограничено количество </a:t>
            </a:r>
            <a:r>
              <a:rPr lang="ru-RU" sz="2400" dirty="0" err="1" smtClean="0"/>
              <a:t>токенов</a:t>
            </a:r>
            <a:r>
              <a:rPr lang="ru-RU" sz="2400" dirty="0" smtClean="0"/>
              <a:t>. </a:t>
            </a:r>
          </a:p>
          <a:p>
            <a:r>
              <a:rPr lang="ru-RU" sz="2400" dirty="0" smtClean="0"/>
              <a:t>Больше ошибок по сравнению с </a:t>
            </a:r>
            <a:r>
              <a:rPr lang="en-US" sz="2400" dirty="0" err="1" smtClean="0"/>
              <a:t>Ollama</a:t>
            </a:r>
            <a:r>
              <a:rPr lang="en-US" sz="2400" dirty="0" smtClean="0"/>
              <a:t> </a:t>
            </a:r>
            <a:r>
              <a:rPr lang="ru-RU" sz="2400" dirty="0" smtClean="0"/>
              <a:t>и алгоритмами машинного обучения: не достучаться до модели, таймауты, доступов бывает нет, и много чего. </a:t>
            </a:r>
          </a:p>
        </p:txBody>
      </p:sp>
    </p:spTree>
    <p:extLst>
      <p:ext uri="{BB962C8B-B14F-4D97-AF65-F5344CB8AC3E}">
        <p14:creationId xmlns:p14="http://schemas.microsoft.com/office/powerpoint/2010/main" val="313437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2508" y="138546"/>
            <a:ext cx="11596255" cy="671945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1200" dirty="0" smtClean="0"/>
              <a:t>============================================================</a:t>
            </a:r>
          </a:p>
          <a:p>
            <a:pPr marL="0" indent="0">
              <a:buNone/>
            </a:pPr>
            <a:r>
              <a:rPr lang="ru-RU" sz="1200" dirty="0" smtClean="0"/>
              <a:t>ОТЧЁТ: ТОП-20 ТЕМ ОБРАЩЕНИЙ В ПОДДЕРЖКУ БАНКА</a:t>
            </a:r>
          </a:p>
          <a:p>
            <a:pPr marL="0" indent="0">
              <a:buNone/>
            </a:pPr>
            <a:r>
              <a:rPr lang="ru-RU" sz="1200" dirty="0" smtClean="0"/>
              <a:t>============================================================</a:t>
            </a:r>
          </a:p>
          <a:p>
            <a:pPr marL="0" indent="0">
              <a:buNone/>
            </a:pPr>
            <a:r>
              <a:rPr lang="ru-RU" sz="1200" dirty="0" smtClean="0"/>
              <a:t>Дата анализа: 23.01.2026 17:57</a:t>
            </a:r>
          </a:p>
          <a:p>
            <a:pPr marL="0" indent="0">
              <a:buNone/>
            </a:pPr>
            <a:r>
              <a:rPr lang="ru-RU" sz="1200" dirty="0" smtClean="0"/>
              <a:t>Всего проанализировано сообщений: 10000</a:t>
            </a:r>
          </a:p>
          <a:p>
            <a:pPr marL="0" indent="0">
              <a:buNone/>
            </a:pPr>
            <a:r>
              <a:rPr lang="ru-RU" sz="1200" dirty="0" smtClean="0"/>
              <a:t>Количество частей анализа: 10</a:t>
            </a:r>
          </a:p>
          <a:p>
            <a:pPr marL="0" indent="0">
              <a:buNone/>
            </a:pPr>
            <a:endParaRPr lang="ru-RU" sz="1200" dirty="0" smtClean="0"/>
          </a:p>
          <a:p>
            <a:pPr marL="0" indent="0">
              <a:buNone/>
            </a:pPr>
            <a:r>
              <a:rPr lang="ru-RU" sz="1200" dirty="0" smtClean="0"/>
              <a:t>ТЕМЫ ОБРАЩЕНИЙ:</a:t>
            </a:r>
          </a:p>
          <a:p>
            <a:pPr marL="0" indent="0">
              <a:buNone/>
            </a:pPr>
            <a:r>
              <a:rPr lang="ru-RU" sz="1200" dirty="0" smtClean="0"/>
              <a:t>------------------------------------------------------------</a:t>
            </a:r>
          </a:p>
          <a:p>
            <a:pPr marL="0" indent="0">
              <a:buNone/>
            </a:pPr>
            <a:r>
              <a:rPr lang="ru-RU" sz="1200" dirty="0" smtClean="0"/>
              <a:t> 1. Проблема с картой</a:t>
            </a:r>
          </a:p>
          <a:p>
            <a:pPr marL="0" indent="0">
              <a:buNone/>
            </a:pPr>
            <a:r>
              <a:rPr lang="ru-RU" sz="1200" dirty="0" smtClean="0"/>
              <a:t>    📊 Количество обращений: 300 (3.0%)</a:t>
            </a:r>
          </a:p>
          <a:p>
            <a:pPr marL="0" indent="0">
              <a:buNone/>
            </a:pPr>
            <a:r>
              <a:rPr lang="ru-RU" sz="1200" dirty="0" smtClean="0"/>
              <a:t>    📝 Описание: Пользователи жалуются на проблемы с картами — блокировка карты, отсутствие денег на счете, неверный лимит операций, ошибки при оплате, восстановление доступа.</a:t>
            </a:r>
          </a:p>
          <a:p>
            <a:pPr marL="0" indent="0">
              <a:buNone/>
            </a:pPr>
            <a:endParaRPr lang="ru-RU" sz="1200" dirty="0" smtClean="0"/>
          </a:p>
          <a:p>
            <a:pPr marL="0" indent="0">
              <a:buNone/>
            </a:pPr>
            <a:r>
              <a:rPr lang="ru-RU" sz="1200" dirty="0" smtClean="0"/>
              <a:t> 2. Ошибки списания средств</a:t>
            </a:r>
          </a:p>
          <a:p>
            <a:pPr marL="0" indent="0">
              <a:buNone/>
            </a:pPr>
            <a:r>
              <a:rPr lang="ru-RU" sz="1200" dirty="0" smtClean="0"/>
              <a:t>    📊 Количество обращений: 240 (2.4%)</a:t>
            </a:r>
          </a:p>
          <a:p>
            <a:pPr marL="0" indent="0">
              <a:buNone/>
            </a:pPr>
            <a:r>
              <a:rPr lang="ru-RU" sz="1200" dirty="0" smtClean="0"/>
              <a:t>    📝 Описание: Сообщается о некорректном списании денежных средств, двойном списании, ошибочном удержании комиссии, возврате платежей, проблемах с </a:t>
            </a:r>
            <a:r>
              <a:rPr lang="ru-RU" sz="1200" dirty="0" err="1" smtClean="0"/>
              <a:t>автоплатежами</a:t>
            </a:r>
            <a:r>
              <a:rPr lang="ru-RU" sz="1200" dirty="0" smtClean="0"/>
              <a:t>.</a:t>
            </a:r>
          </a:p>
          <a:p>
            <a:pPr marL="0" indent="0">
              <a:buNone/>
            </a:pPr>
            <a:endParaRPr lang="ru-RU" sz="1200" dirty="0" smtClean="0"/>
          </a:p>
          <a:p>
            <a:pPr marL="0" indent="0">
              <a:buNone/>
            </a:pPr>
            <a:r>
              <a:rPr lang="ru-RU" sz="1200" dirty="0" smtClean="0"/>
              <a:t> 3. Технические сбои и недоступность сервиса</a:t>
            </a:r>
          </a:p>
          <a:p>
            <a:pPr marL="0" indent="0">
              <a:buNone/>
            </a:pPr>
            <a:r>
              <a:rPr lang="ru-RU" sz="1200" dirty="0" smtClean="0"/>
              <a:t>    📊 Количество обращений: 160 (1.6%)</a:t>
            </a:r>
          </a:p>
          <a:p>
            <a:pPr marL="0" indent="0">
              <a:buNone/>
            </a:pPr>
            <a:r>
              <a:rPr lang="ru-RU" sz="1200" dirty="0" smtClean="0"/>
              <a:t>    📝 Описание: Клиенты сообщают о недоступности онлайн-банка, мобильного приложения, банкоматов, терминалов оплаты, задержке обработки транзакций, технических сбоях и невозможности провести операции.</a:t>
            </a:r>
          </a:p>
          <a:p>
            <a:pPr marL="0" indent="0">
              <a:buNone/>
            </a:pPr>
            <a:endParaRPr lang="ru-RU" sz="1200" dirty="0" smtClean="0"/>
          </a:p>
        </p:txBody>
      </p:sp>
    </p:spTree>
    <p:extLst>
      <p:ext uri="{BB962C8B-B14F-4D97-AF65-F5344CB8AC3E}">
        <p14:creationId xmlns:p14="http://schemas.microsoft.com/office/powerpoint/2010/main" val="2695400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9382"/>
            <a:ext cx="10515600" cy="64008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/>
              <a:t> 4. Проблема списания средств</a:t>
            </a:r>
          </a:p>
          <a:p>
            <a:r>
              <a:rPr lang="ru-RU" dirty="0" smtClean="0"/>
              <a:t>    📊 Количество обращений: 150 (1.5%)</a:t>
            </a:r>
          </a:p>
          <a:p>
            <a:r>
              <a:rPr lang="ru-RU" dirty="0" smtClean="0"/>
              <a:t>    📝 Описание: Клиенты жалуются на несанкционированное списание денежных средств, ошибки в списании комиссий, некорректную работу </a:t>
            </a:r>
            <a:r>
              <a:rPr lang="ru-RU" dirty="0" err="1" smtClean="0"/>
              <a:t>автоплатежей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r>
              <a:rPr lang="ru-RU" dirty="0" smtClean="0"/>
              <a:t> 5. Ошибки в расчетах и начислениях процентов</a:t>
            </a:r>
          </a:p>
          <a:p>
            <a:r>
              <a:rPr lang="ru-RU" dirty="0" smtClean="0"/>
              <a:t>    📊 Количество обращений: 120 (1.2%)</a:t>
            </a:r>
          </a:p>
          <a:p>
            <a:r>
              <a:rPr lang="ru-RU" dirty="0" smtClean="0"/>
              <a:t>    📝 Описание: Пользователи сообщают о неверных суммах начисленных процентов, ошибочных расчетах платежей по кредитам и займам, проблемах с досрочным погашением задолженностей.</a:t>
            </a:r>
          </a:p>
          <a:p>
            <a:endParaRPr lang="ru-RU" dirty="0" smtClean="0"/>
          </a:p>
          <a:p>
            <a:r>
              <a:rPr lang="ru-RU" dirty="0" smtClean="0"/>
              <a:t> 6. Технические проблемы с доступом к аккаунту</a:t>
            </a:r>
          </a:p>
          <a:p>
            <a:r>
              <a:rPr lang="ru-RU" dirty="0" smtClean="0"/>
              <a:t>    📊 Количество обращений: 100 (1.0%)</a:t>
            </a:r>
          </a:p>
          <a:p>
            <a:r>
              <a:rPr lang="ru-RU" dirty="0" smtClean="0"/>
              <a:t>    📝 Описание: Сообщаются сложности входа в личный кабинет, сбои в работе мобильного приложения, отсутствие возможности авторизации через SMS-код или другие каналы идентификации.</a:t>
            </a:r>
          </a:p>
          <a:p>
            <a:endParaRPr lang="ru-RU" dirty="0" smtClean="0"/>
          </a:p>
          <a:p>
            <a:r>
              <a:rPr lang="ru-RU" dirty="0" smtClean="0"/>
              <a:t> 7. Претензии по кредитованию и займам</a:t>
            </a:r>
          </a:p>
          <a:p>
            <a:r>
              <a:rPr lang="ru-RU" dirty="0" smtClean="0"/>
              <a:t>    📊 Количество обращений: 80 (0.8%)</a:t>
            </a:r>
          </a:p>
          <a:p>
            <a:r>
              <a:rPr lang="ru-RU" dirty="0" smtClean="0"/>
              <a:t>    📝 Описание: Жалобы клиентов касаются условий кредитования, ошибок при оформлении кредитов, проблем с реструктуризацией долга, отказов в выдаче кредита без объяснения причин.</a:t>
            </a:r>
          </a:p>
        </p:txBody>
      </p:sp>
    </p:spTree>
    <p:extLst>
      <p:ext uri="{BB962C8B-B14F-4D97-AF65-F5344CB8AC3E}">
        <p14:creationId xmlns:p14="http://schemas.microsoft.com/office/powerpoint/2010/main" val="1973213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06582" y="193964"/>
            <a:ext cx="10647218" cy="6428509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8. Проблема с доступом в личный кабинет</a:t>
            </a:r>
          </a:p>
          <a:p>
            <a:r>
              <a:rPr lang="ru-RU" dirty="0" smtClean="0"/>
              <a:t>    📊 Количество обращений: 73 (0.7%)</a:t>
            </a:r>
          </a:p>
          <a:p>
            <a:r>
              <a:rPr lang="ru-RU" dirty="0" smtClean="0"/>
              <a:t>    📝 Описание: Клиенты испытывают трудности с авторизацией или доступом к своему личному кабинету онлайн-банка.</a:t>
            </a:r>
          </a:p>
          <a:p>
            <a:endParaRPr lang="ru-RU" dirty="0" smtClean="0"/>
          </a:p>
          <a:p>
            <a:r>
              <a:rPr lang="ru-RU" dirty="0" smtClean="0"/>
              <a:t> 9. Кредитование и займы</a:t>
            </a:r>
          </a:p>
          <a:p>
            <a:r>
              <a:rPr lang="ru-RU" dirty="0" smtClean="0"/>
              <a:t>    📊 Количество обращений: 70 (0.7%)</a:t>
            </a:r>
          </a:p>
          <a:p>
            <a:r>
              <a:rPr lang="ru-RU" dirty="0" smtClean="0"/>
              <a:t>    📝 Описание: Вопросы по кредитам, займам, реструктуризации долга, начислению процентов, досрочному погашению кредита, просрочке платежа, уточнению условий кредитования.</a:t>
            </a:r>
          </a:p>
          <a:p>
            <a:endParaRPr lang="ru-RU" dirty="0" smtClean="0"/>
          </a:p>
          <a:p>
            <a:r>
              <a:rPr lang="ru-RU" dirty="0" smtClean="0"/>
              <a:t>10. Сбой в работе мобильного приложения</a:t>
            </a:r>
          </a:p>
          <a:p>
            <a:r>
              <a:rPr lang="ru-RU" dirty="0" smtClean="0"/>
              <a:t>    📊 Количество обращений: 70 (0.7%)</a:t>
            </a:r>
          </a:p>
          <a:p>
            <a:r>
              <a:rPr lang="ru-RU" dirty="0" smtClean="0"/>
              <a:t>    📝 Описание: Возникают проблемы с авторизацией, отображением баланса, проведением операций и прочими функциями мобильного приложения.</a:t>
            </a:r>
          </a:p>
          <a:p>
            <a:endParaRPr lang="ru-RU" dirty="0" smtClean="0"/>
          </a:p>
          <a:p>
            <a:r>
              <a:rPr lang="ru-RU" dirty="0" smtClean="0"/>
              <a:t>11. Кредиты и займы</a:t>
            </a:r>
          </a:p>
          <a:p>
            <a:r>
              <a:rPr lang="ru-RU" dirty="0" smtClean="0"/>
              <a:t>    📊 Количество обращений: 70 (0.7%)</a:t>
            </a:r>
          </a:p>
          <a:p>
            <a:r>
              <a:rPr lang="ru-RU" dirty="0" smtClean="0"/>
              <a:t>    📝 Описание: Вопросы по кредитам и займам: досрочное погашение, изменение условий кредита, начисление процентов, просрочка платежей, реструктуризация долга, отказ в кредите.</a:t>
            </a:r>
          </a:p>
          <a:p>
            <a:endParaRPr lang="ru-RU" dirty="0" smtClean="0"/>
          </a:p>
          <a:p>
            <a:r>
              <a:rPr lang="ru-RU" dirty="0" smtClean="0"/>
              <a:t>12. Проблемы с картами и платежными операциями</a:t>
            </a:r>
          </a:p>
          <a:p>
            <a:r>
              <a:rPr lang="ru-RU" dirty="0" smtClean="0"/>
              <a:t>    📊 Количество обращений: 70 (0.7%)</a:t>
            </a:r>
          </a:p>
          <a:p>
            <a:r>
              <a:rPr lang="ru-RU" dirty="0" smtClean="0"/>
              <a:t>    📝 Описание: Сообщается о блокировке карты без предупреждения, задержке зачисления переводов, сбоях при оплате товаров и услуг, проблемах с возвратом ошибочно проведенных операций.</a:t>
            </a:r>
          </a:p>
          <a:p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605578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LLM, </a:t>
            </a:r>
            <a:r>
              <a:rPr lang="ru-RU" dirty="0" smtClean="0"/>
              <a:t>локальная </a:t>
            </a:r>
            <a:r>
              <a:rPr lang="en-US" dirty="0" err="1" smtClean="0"/>
              <a:t>Ollama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3500" dirty="0" smtClean="0">
                <a:solidFill>
                  <a:srgbClr val="00B050"/>
                </a:solidFill>
              </a:rPr>
              <a:t>Плюсы</a:t>
            </a:r>
          </a:p>
          <a:p>
            <a:r>
              <a:rPr lang="ru-RU" sz="2600" dirty="0" smtClean="0"/>
              <a:t>Понятней и проще чем с </a:t>
            </a:r>
            <a:r>
              <a:rPr lang="en-US" sz="2600" dirty="0" smtClean="0"/>
              <a:t>API. </a:t>
            </a:r>
            <a:r>
              <a:rPr lang="ru-RU" sz="2600" dirty="0" smtClean="0"/>
              <a:t>Если </a:t>
            </a:r>
            <a:r>
              <a:rPr lang="en-US" sz="2600" dirty="0" smtClean="0"/>
              <a:t>API </a:t>
            </a:r>
            <a:r>
              <a:rPr lang="ru-RU" sz="2600" dirty="0" smtClean="0"/>
              <a:t>требует знания веба, то </a:t>
            </a:r>
            <a:r>
              <a:rPr lang="en-US" sz="2600" dirty="0" err="1" smtClean="0"/>
              <a:t>Ollama</a:t>
            </a:r>
            <a:r>
              <a:rPr lang="en-US" sz="2600" dirty="0" smtClean="0"/>
              <a:t> </a:t>
            </a:r>
            <a:r>
              <a:rPr lang="ru-RU" sz="2600" dirty="0" smtClean="0"/>
              <a:t>только командной строки. </a:t>
            </a:r>
          </a:p>
          <a:p>
            <a:r>
              <a:rPr lang="ru-RU" sz="2600" dirty="0" smtClean="0"/>
              <a:t>Для тестового задания не критично, но все же: информация в безопасности, в своем контуре. </a:t>
            </a:r>
          </a:p>
          <a:p>
            <a:r>
              <a:rPr lang="ru-RU" sz="2600" dirty="0" smtClean="0"/>
              <a:t>Есть хорошие модели. Есть из чего выбрать.</a:t>
            </a:r>
          </a:p>
          <a:p>
            <a:endParaRPr lang="ru-RU" dirty="0" smtClean="0"/>
          </a:p>
          <a:p>
            <a:r>
              <a:rPr lang="ru-RU" sz="3500" dirty="0" smtClean="0">
                <a:solidFill>
                  <a:srgbClr val="FF0000"/>
                </a:solidFill>
              </a:rPr>
              <a:t>Минусы</a:t>
            </a:r>
            <a:endParaRPr lang="ru-RU" sz="3500" dirty="0">
              <a:solidFill>
                <a:srgbClr val="FF0000"/>
              </a:solidFill>
            </a:endParaRPr>
          </a:p>
          <a:p>
            <a:r>
              <a:rPr lang="ru-RU" sz="2600" dirty="0" smtClean="0"/>
              <a:t>Занимает много вычислительных ресурсов. </a:t>
            </a:r>
          </a:p>
          <a:p>
            <a:r>
              <a:rPr lang="ru-RU" sz="2600" dirty="0" smtClean="0"/>
              <a:t>Чтобы получить нормальное качество, нужно загрузить модель с большим контекстным окном. Но опять же это требует гигабайтов памяти и мощности.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5586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429491"/>
            <a:ext cx="10515600" cy="5747472"/>
          </a:xfrm>
        </p:spPr>
        <p:txBody>
          <a:bodyPr>
            <a:normAutofit fontScale="70000" lnSpcReduction="20000"/>
          </a:bodyPr>
          <a:lstStyle/>
          <a:p>
            <a:r>
              <a:rPr lang="en-GB" dirty="0" smtClean="0"/>
              <a:t>(</a:t>
            </a:r>
            <a:r>
              <a:rPr lang="en-GB" dirty="0" err="1" smtClean="0"/>
              <a:t>venv</a:t>
            </a:r>
            <a:r>
              <a:rPr lang="en-GB" dirty="0" smtClean="0"/>
              <a:t>) C:\rostelecom\gigachat_topics&gt;python OLLAMA.py</a:t>
            </a:r>
          </a:p>
          <a:p>
            <a:r>
              <a:rPr lang="ru-RU" dirty="0" smtClean="0"/>
              <a:t>Чтение файла </a:t>
            </a:r>
            <a:r>
              <a:rPr lang="en-GB" dirty="0" smtClean="0"/>
              <a:t>messages3.xlsx...</a:t>
            </a:r>
          </a:p>
          <a:p>
            <a:r>
              <a:rPr lang="ru-RU" dirty="0" smtClean="0"/>
              <a:t>Найдено 10 сообщений:</a:t>
            </a:r>
          </a:p>
          <a:p>
            <a:r>
              <a:rPr lang="ru-RU" dirty="0" smtClean="0"/>
              <a:t>1. 2025-11-01 00:00:26.120...</a:t>
            </a:r>
          </a:p>
          <a:p>
            <a:r>
              <a:rPr lang="ru-RU" dirty="0" smtClean="0"/>
              <a:t>2. 2025-11-01 00:00:36.742...</a:t>
            </a:r>
          </a:p>
          <a:p>
            <a:r>
              <a:rPr lang="ru-RU" dirty="0" smtClean="0"/>
              <a:t>3. 2025-11-01 00:00:39.078...</a:t>
            </a:r>
          </a:p>
          <a:p>
            <a:r>
              <a:rPr lang="ru-RU" dirty="0" smtClean="0"/>
              <a:t>4. 2025-11-01 00:00:49.087...</a:t>
            </a:r>
          </a:p>
          <a:p>
            <a:r>
              <a:rPr lang="ru-RU" dirty="0" smtClean="0"/>
              <a:t>5. 2025-11-01 00:00:51.187...</a:t>
            </a:r>
          </a:p>
          <a:p>
            <a:endParaRPr lang="ru-RU" dirty="0" smtClean="0"/>
          </a:p>
          <a:p>
            <a:r>
              <a:rPr lang="ru-RU" dirty="0" smtClean="0"/>
              <a:t>Отправка запроса к модели...</a:t>
            </a:r>
          </a:p>
          <a:p>
            <a:endParaRPr lang="ru-RU" dirty="0" smtClean="0"/>
          </a:p>
          <a:p>
            <a:r>
              <a:rPr lang="ru-RU" dirty="0" smtClean="0"/>
              <a:t>✅ Ответ модели:</a:t>
            </a:r>
          </a:p>
          <a:p>
            <a:r>
              <a:rPr lang="ru-RU" b="1" dirty="0" smtClean="0"/>
              <a:t>["Взыскание средств", "Проверка документов"]</a:t>
            </a:r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✅ Результат сохранен в </a:t>
            </a:r>
            <a:r>
              <a:rPr lang="en-GB" dirty="0" smtClean="0"/>
              <a:t>minimal_result.txt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15921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LLM, </a:t>
            </a:r>
            <a:r>
              <a:rPr lang="ru-RU" dirty="0" smtClean="0"/>
              <a:t>веб версии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У модели </a:t>
            </a:r>
            <a:r>
              <a:rPr lang="en-US" dirty="0" err="1" smtClean="0"/>
              <a:t>DeepSeek</a:t>
            </a:r>
            <a:r>
              <a:rPr lang="en-US" dirty="0" smtClean="0"/>
              <a:t> </a:t>
            </a:r>
            <a:r>
              <a:rPr lang="ru-RU" dirty="0" smtClean="0"/>
              <a:t>есть веб версия. Можно было копировать и </a:t>
            </a:r>
            <a:r>
              <a:rPr lang="ru-RU" dirty="0" err="1" smtClean="0"/>
              <a:t>вставять</a:t>
            </a:r>
            <a:r>
              <a:rPr lang="ru-RU" dirty="0" smtClean="0"/>
              <a:t> из файла объем информации, который помещается в контекст модели. Это достаточно очевидный и простой способ с графическим интерфейсом</a:t>
            </a:r>
            <a:r>
              <a:rPr lang="en-US" dirty="0"/>
              <a:t>,</a:t>
            </a:r>
            <a:r>
              <a:rPr lang="ru-RU" dirty="0" smtClean="0"/>
              <a:t> как при работе с </a:t>
            </a:r>
            <a:r>
              <a:rPr lang="en-US" dirty="0" smtClean="0"/>
              <a:t>Excel. </a:t>
            </a:r>
            <a:r>
              <a:rPr lang="ru-RU" dirty="0" smtClean="0"/>
              <a:t>В этом кейсе я этот способ не стала применять. Вместо этого показала более интересные варианты.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1497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u="sng" dirty="0" smtClean="0"/>
              <a:t>P. S. </a:t>
            </a:r>
            <a:r>
              <a:rPr lang="ru-RU" sz="3600" b="1" u="sng" dirty="0" smtClean="0"/>
              <a:t>Работа с</a:t>
            </a:r>
            <a:r>
              <a:rPr lang="en-US" sz="3600" b="1" u="sng" dirty="0" smtClean="0"/>
              <a:t> </a:t>
            </a:r>
            <a:r>
              <a:rPr lang="ru-RU" sz="3600" b="1" u="sng" dirty="0" smtClean="0"/>
              <a:t>объемным файлом в домашних условиях </a:t>
            </a:r>
            <a:endParaRPr lang="ru-RU" sz="3600" b="1" u="sng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Для работы с </a:t>
            </a:r>
            <a:r>
              <a:rPr lang="en-US" dirty="0" smtClean="0"/>
              <a:t>API </a:t>
            </a:r>
            <a:r>
              <a:rPr lang="ru-RU" dirty="0" smtClean="0"/>
              <a:t>я задала, чтобы модель поэтапно, </a:t>
            </a:r>
            <a:r>
              <a:rPr lang="ru-RU" dirty="0" err="1" smtClean="0"/>
              <a:t>батчами</a:t>
            </a:r>
            <a:r>
              <a:rPr lang="ru-RU" dirty="0" smtClean="0"/>
              <a:t> работала с </a:t>
            </a:r>
            <a:r>
              <a:rPr lang="en-US" dirty="0" smtClean="0"/>
              <a:t>Excel. </a:t>
            </a:r>
            <a:r>
              <a:rPr lang="ru-RU" dirty="0" smtClean="0"/>
              <a:t>Я использовала </a:t>
            </a:r>
            <a:r>
              <a:rPr lang="ru-RU" dirty="0" err="1" smtClean="0"/>
              <a:t>нейросеть</a:t>
            </a:r>
            <a:r>
              <a:rPr lang="ru-RU" dirty="0" smtClean="0"/>
              <a:t> и в </a:t>
            </a:r>
            <a:r>
              <a:rPr lang="ru-RU" dirty="0" err="1" smtClean="0"/>
              <a:t>промте</a:t>
            </a:r>
            <a:r>
              <a:rPr lang="ru-RU" dirty="0" smtClean="0"/>
              <a:t> указала «оптимизируй. Работай по 1000 записей 10 раз и получишь 10 000 строк».</a:t>
            </a:r>
          </a:p>
          <a:p>
            <a:endParaRPr lang="ru-RU" dirty="0" smtClean="0"/>
          </a:p>
          <a:p>
            <a:r>
              <a:rPr lang="ru-RU" dirty="0" smtClean="0"/>
              <a:t>У меня компьютер старенький и очень мало памяти</a:t>
            </a:r>
            <a:r>
              <a:rPr lang="en-US" dirty="0" smtClean="0"/>
              <a:t> </a:t>
            </a:r>
            <a:r>
              <a:rPr lang="ru-RU" dirty="0" smtClean="0"/>
              <a:t>для работы с </a:t>
            </a:r>
            <a:r>
              <a:rPr lang="en-US" dirty="0" err="1" smtClean="0"/>
              <a:t>Ollama</a:t>
            </a:r>
            <a:r>
              <a:rPr lang="ru-RU" dirty="0" smtClean="0"/>
              <a:t>. Пришлось брать самую легковесную модель </a:t>
            </a:r>
            <a:r>
              <a:rPr lang="en-US" dirty="0" smtClean="0"/>
              <a:t>gemma3:1b</a:t>
            </a:r>
            <a:r>
              <a:rPr lang="ru-RU" dirty="0" smtClean="0"/>
              <a:t>. Модели конечно было тяжело работать с </a:t>
            </a:r>
            <a:r>
              <a:rPr lang="en-US" dirty="0" smtClean="0"/>
              <a:t>Excel </a:t>
            </a:r>
            <a:r>
              <a:rPr lang="ru-RU" dirty="0" smtClean="0"/>
              <a:t>в 10 000 строк. Чисто для наглядности я взяла только 10 строк. Даже 30 строк не могло уместиться в контекстное окно </a:t>
            </a:r>
            <a:r>
              <a:rPr lang="en-US" dirty="0" smtClean="0"/>
              <a:t>gemma3:1b. </a:t>
            </a:r>
            <a:r>
              <a:rPr lang="ru-RU" dirty="0" smtClean="0"/>
              <a:t>Если бы у меня были бы мощности, все</a:t>
            </a:r>
            <a:r>
              <a:rPr lang="en-US" dirty="0" smtClean="0"/>
              <a:t> </a:t>
            </a:r>
            <a:r>
              <a:rPr lang="ru-RU" dirty="0" smtClean="0"/>
              <a:t>могло бы быть по-другому.</a:t>
            </a:r>
          </a:p>
        </p:txBody>
      </p:sp>
    </p:spTree>
    <p:extLst>
      <p:ext uri="{BB962C8B-B14F-4D97-AF65-F5344CB8AC3E}">
        <p14:creationId xmlns:p14="http://schemas.microsoft.com/office/powerpoint/2010/main" val="4121134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Если нужны исходники кода, могу предоставить</a:t>
            </a:r>
            <a:r>
              <a:rPr lang="en-US" dirty="0" smtClean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064482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1706</Words>
  <Application>Microsoft Office PowerPoint</Application>
  <PresentationFormat>Широкоэкранный</PresentationFormat>
  <Paragraphs>181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Тема Office</vt:lpstr>
      <vt:lpstr>Выявление топ тем из текстовых данных</vt:lpstr>
      <vt:lpstr>Способы решения задачи</vt:lpstr>
      <vt:lpstr>Excel</vt:lpstr>
      <vt:lpstr>Презентация PowerPoint</vt:lpstr>
      <vt:lpstr>Презентация PowerPoint</vt:lpstr>
      <vt:lpstr>Алгоритмы машинного обучения</vt:lpstr>
      <vt:lpstr>KMeans</vt:lpstr>
      <vt:lpstr>Презентация PowerPoint</vt:lpstr>
      <vt:lpstr>Kmeans (еще один вариант)</vt:lpstr>
      <vt:lpstr>DBSCAN</vt:lpstr>
      <vt:lpstr>Презентация PowerPoint</vt:lpstr>
      <vt:lpstr>Презентация PowerPoint</vt:lpstr>
      <vt:lpstr>LLM, API. GigaChat, Openrouter</vt:lpstr>
      <vt:lpstr>Презентация PowerPoint</vt:lpstr>
      <vt:lpstr>Презентация PowerPoint</vt:lpstr>
      <vt:lpstr>Презентация PowerPoint</vt:lpstr>
      <vt:lpstr>LLM, локальная Ollama</vt:lpstr>
      <vt:lpstr>Презентация PowerPoint</vt:lpstr>
      <vt:lpstr>LLM, веб версии</vt:lpstr>
      <vt:lpstr>P. S. Работа с объемным файлом в домашних условиях </vt:lpstr>
      <vt:lpstr>Спасибо за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Выявление топ тем из текстовых данных</dc:title>
  <dc:creator>Долана Сарыгбай</dc:creator>
  <cp:lastModifiedBy>Долана Сарыгбай</cp:lastModifiedBy>
  <cp:revision>37</cp:revision>
  <dcterms:created xsi:type="dcterms:W3CDTF">2026-01-25T23:32:14Z</dcterms:created>
  <dcterms:modified xsi:type="dcterms:W3CDTF">2026-02-01T16:29:44Z</dcterms:modified>
</cp:coreProperties>
</file>